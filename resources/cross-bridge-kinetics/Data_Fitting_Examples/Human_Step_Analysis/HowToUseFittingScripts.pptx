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72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3EC5-465A-7E7D-5971-F7069EB20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20D99-9185-6BA6-3CD5-E978C16BA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0A4C2-23C1-B28C-B119-53FC5FD9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83C8F-DAB1-6880-6C1B-492D48C3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0E2BE-2017-890C-B1C1-AA054593F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2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F183-47DD-5FF6-425D-9CB1EC0B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C2A34-5CA7-5B6E-9945-898364605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EC218-7128-C46F-23B5-093EFDFA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81DED-E6C8-7131-3DF3-68AA8A58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F260C-08C4-D9DB-DC9E-B80B4F00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91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2CFD-51A5-9043-1F4E-07756CD1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8E183-BF37-CE77-C949-DCBE1C911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997E6-4875-9064-9DB1-A7B13BBCC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A3AD7-28C7-863E-CBEA-32A72B43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0CC30-1B80-BE0A-8782-73803D94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1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B4D3-630C-3A72-4427-F924B3A9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3EBB-6C9D-D552-29A7-92D836645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0F197-26E3-BC04-EFB0-FD1BBC3AD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CD162-9593-6DB9-60EA-FC489B9B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D480B-C414-5537-8C71-F6E74864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D2FF3-0C59-91DD-D943-A07D3DF2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1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D943-2B23-E6BD-C3F8-41CB2FE5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02EB9-02BA-97FB-9B16-1494645D7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1FD08-7DFE-3FBA-BE18-0A77F9D94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BDF51-7B3F-B6F5-E1CE-11E1FC150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E58C4-77E9-BC38-DF09-9CCD3F605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8855B-AFDB-9547-13B3-DE336E78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7EB4D-AEE4-7657-2410-E08B1720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27D92-C865-CA33-8314-45C902DA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9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C436-50DE-00D7-7F76-23BAD85B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90856-B264-4708-1572-DE5592C3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F8B9D-C662-7C3F-F4D7-8AD1BD4D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7ED0CD-53D9-B4F1-9E52-19708D99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0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5D35BF-76FF-B853-438F-FD035C50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B476A4-6494-15EC-C25B-68C6C7EF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CB5CC-8422-D167-9A70-73306222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4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72E1-DC4D-76ED-AE2A-8DF74709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E903C-D837-2A47-D222-C68877178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A9B01-BDE0-E54C-764C-49638CEA1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54F68-FD70-F131-1352-2A05581F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EA715-3694-6A49-32E7-78D4F4CE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3EAE8-902A-3207-A78B-D48B921F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1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4724-F997-5A15-B215-A8903E16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094716-6722-D07B-B07D-132E84872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D910C-1681-594B-B621-BFA55BF78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216D4-B5C8-3100-9CFE-CB66847D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0D3F3-4417-205A-0BF7-09AB6429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5F0F8-1C26-1994-2CA5-0A09A3F3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8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D581-379D-62C4-7454-291BA1FA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DEC57-6124-92DE-47F1-5EB0FDD40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2E37D-EC8C-CB00-224F-97D7221C1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E0E2A-CDA1-54DD-52A7-92C77B9A8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A2435-3A83-F448-64AC-9ECE27F8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1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A28AF-80AB-605B-EA4B-353CEC65C7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89420-3D84-9DCA-5D2D-8241389C7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45A64-316F-52C6-52CA-62CF27C0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A480-BDE8-59CF-CD99-3B6A2014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F1559-B5D4-21AE-FBE8-146C261C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6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823FF8-5E1A-520B-1B9B-25BCFA97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A2DD-08D9-8B15-2A52-2907015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8C221-7466-24D9-3063-2EEF00CC8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9A81A-F360-4767-9F57-54E5F0B8A84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F55B0-77CA-127B-5CA0-73C12AF4D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06316-2132-15FB-C58D-1851DD8A5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977A7-7087-4117-B7AE-55D53DB26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9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CF9A-4FF3-4D30-9678-990E2C38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4938-AFD8-693C-C613-171BA9EC98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Cardiac Step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CBB7B-353D-FAEE-F3B7-12F2B0EAE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9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E9B6C6-12E7-6B90-307D-17622CE243B3}"/>
              </a:ext>
            </a:extLst>
          </p:cNvPr>
          <p:cNvSpPr txBox="1"/>
          <p:nvPr/>
        </p:nvSpPr>
        <p:spPr>
          <a:xfrm>
            <a:off x="6096001" y="1412111"/>
            <a:ext cx="5581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1—</a:t>
            </a:r>
          </a:p>
          <a:p>
            <a:r>
              <a:rPr lang="en-US" dirty="0"/>
              <a:t>For human cardiac step stretch data fitting, load or open the script.</a:t>
            </a:r>
          </a:p>
          <a:p>
            <a:endParaRPr lang="en-US" dirty="0"/>
          </a:p>
          <a:p>
            <a:r>
              <a:rPr lang="en-US" dirty="0"/>
              <a:t>ProcessStep_v4_2026_05_21_Human_Transmural.m</a:t>
            </a:r>
          </a:p>
          <a:p>
            <a:endParaRPr lang="en-US" dirty="0"/>
          </a:p>
          <a:p>
            <a:r>
              <a:rPr lang="en-US" b="1" dirty="0"/>
              <a:t>2—</a:t>
            </a:r>
          </a:p>
          <a:p>
            <a:r>
              <a:rPr lang="en-US" dirty="0"/>
              <a:t>Then just run the script and it should make some plots for data fitting.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E842ED-0F97-09C2-27E1-77F56170E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3" y="464402"/>
            <a:ext cx="5172797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0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59106-7D5B-53B9-726B-77DF0B76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4D272A-D839-D352-FB5A-360336CB6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98" y="290055"/>
            <a:ext cx="10059804" cy="3962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1F5A76-5296-31C7-6B77-76CC43E8F380}"/>
              </a:ext>
            </a:extLst>
          </p:cNvPr>
          <p:cNvSpPr txBox="1"/>
          <p:nvPr/>
        </p:nvSpPr>
        <p:spPr>
          <a:xfrm>
            <a:off x="1767078" y="4398772"/>
            <a:ext cx="86578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strain v time of all the fibers compared (left)</a:t>
            </a:r>
          </a:p>
          <a:p>
            <a:endParaRPr lang="en-US" dirty="0"/>
          </a:p>
          <a:p>
            <a:r>
              <a:rPr lang="en-US" dirty="0"/>
              <a:t>Step Stress vs. time for all the fibers (rigor titration).</a:t>
            </a:r>
          </a:p>
          <a:p>
            <a:endParaRPr lang="en-US" dirty="0"/>
          </a:p>
          <a:p>
            <a:r>
              <a:rPr lang="en-US" dirty="0"/>
              <a:t>This is a little more involved, click somewhere near the minimum of the rise in force after the nadir of t_2</a:t>
            </a:r>
          </a:p>
          <a:p>
            <a:endParaRPr lang="en-US" dirty="0"/>
          </a:p>
          <a:p>
            <a:r>
              <a:rPr lang="en-US" dirty="0"/>
              <a:t>This is telling the computer how to find t_3</a:t>
            </a:r>
          </a:p>
        </p:txBody>
      </p:sp>
    </p:spTree>
    <p:extLst>
      <p:ext uri="{BB962C8B-B14F-4D97-AF65-F5344CB8AC3E}">
        <p14:creationId xmlns:p14="http://schemas.microsoft.com/office/powerpoint/2010/main" val="402758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579F268-AAB4-A27C-F8E4-3BF107BFA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930" y="411480"/>
            <a:ext cx="7543800" cy="603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B5503B-44D4-81AF-370D-B90B01DF78E4}"/>
              </a:ext>
            </a:extLst>
          </p:cNvPr>
          <p:cNvSpPr txBox="1"/>
          <p:nvPr/>
        </p:nvSpPr>
        <p:spPr>
          <a:xfrm>
            <a:off x="178755" y="366623"/>
            <a:ext cx="468887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Top Left: The strain placed on the fiber during the rapid step increase which held for one second</a:t>
            </a:r>
          </a:p>
          <a:p>
            <a:endParaRPr lang="en-US" sz="1400" dirty="0"/>
          </a:p>
          <a:p>
            <a:r>
              <a:rPr lang="en-US" sz="1400" dirty="0"/>
              <a:t>4 phase timepoints: The four phase tension transient timepoints</a:t>
            </a:r>
          </a:p>
          <a:p>
            <a:r>
              <a:rPr lang="en-US" sz="1400" dirty="0"/>
              <a:t> t0 – t1 -&gt; The early elastic response</a:t>
            </a:r>
          </a:p>
          <a:p>
            <a:r>
              <a:rPr lang="en-US" sz="1400" dirty="0"/>
              <a:t>T1/2 -&gt; Rapid decay of force which is in response to cross-bridges being strained</a:t>
            </a:r>
          </a:p>
          <a:p>
            <a:r>
              <a:rPr lang="en-US" sz="1400" dirty="0"/>
              <a:t>t2 -&gt; start of recovery of the system where </a:t>
            </a:r>
            <a:r>
              <a:rPr lang="en-US" sz="1400" dirty="0" err="1"/>
              <a:t>crossbridges</a:t>
            </a:r>
            <a:r>
              <a:rPr lang="en-US" sz="1400" dirty="0"/>
              <a:t> move between conformation</a:t>
            </a:r>
          </a:p>
          <a:p>
            <a:r>
              <a:rPr lang="en-US" sz="1400" dirty="0"/>
              <a:t>T2/3 -&gt; shift of cross-bridges toward new states which generates force at the new length</a:t>
            </a:r>
          </a:p>
          <a:p>
            <a:r>
              <a:rPr lang="en-US" sz="1400" dirty="0"/>
              <a:t>t3 -&gt; slow  exponential drift toward the final steady state which include slower cross-bridge adjustments </a:t>
            </a:r>
          </a:p>
          <a:p>
            <a:endParaRPr lang="en-US" sz="1400" dirty="0"/>
          </a:p>
          <a:p>
            <a:r>
              <a:rPr lang="en-US" sz="1400" dirty="0"/>
              <a:t>Dual exponential with offset:</a:t>
            </a:r>
          </a:p>
          <a:p>
            <a:r>
              <a:rPr lang="en-US" sz="1400" dirty="0"/>
              <a:t>The offset accounts for the baseline shift</a:t>
            </a:r>
          </a:p>
          <a:p>
            <a:r>
              <a:rPr lang="en-US" sz="1400" dirty="0" err="1"/>
              <a:t>Afast</a:t>
            </a:r>
            <a:r>
              <a:rPr lang="en-US" sz="1400" dirty="0"/>
              <a:t> and </a:t>
            </a:r>
            <a:r>
              <a:rPr lang="en-US" sz="1400" dirty="0" err="1"/>
              <a:t>kfast</a:t>
            </a:r>
            <a:r>
              <a:rPr lang="en-US" sz="1400" dirty="0"/>
              <a:t> describe the fast phase while </a:t>
            </a:r>
            <a:r>
              <a:rPr lang="en-US" sz="1400" dirty="0" err="1"/>
              <a:t>Aslow</a:t>
            </a:r>
            <a:r>
              <a:rPr lang="en-US" sz="1400" dirty="0"/>
              <a:t> and </a:t>
            </a:r>
            <a:r>
              <a:rPr lang="en-US" sz="1400" dirty="0" err="1"/>
              <a:t>kslow</a:t>
            </a:r>
            <a:r>
              <a:rPr lang="en-US" sz="1400" dirty="0"/>
              <a:t> describe the slower </a:t>
            </a:r>
            <a:r>
              <a:rPr lang="en-US" sz="1400" dirty="0" err="1"/>
              <a:t>phse</a:t>
            </a:r>
            <a:endParaRPr lang="en-US" sz="1400" dirty="0"/>
          </a:p>
          <a:p>
            <a:r>
              <a:rPr lang="en-US" sz="1400" dirty="0"/>
              <a:t>Capture the two exponential components of the transient</a:t>
            </a:r>
          </a:p>
          <a:p>
            <a:r>
              <a:rPr lang="en-US" sz="1400" dirty="0"/>
              <a:t>Offset allows for the fit to determine that there is the final steady force level, because after a step experiment the muscle force does not typically return to zero</a:t>
            </a:r>
          </a:p>
          <a:p>
            <a:endParaRPr lang="en-US" sz="1400" dirty="0"/>
          </a:p>
          <a:p>
            <a:r>
              <a:rPr lang="en-US" sz="1400" dirty="0"/>
              <a:t>Step ABC:</a:t>
            </a:r>
          </a:p>
          <a:p>
            <a:r>
              <a:rPr lang="en-US" sz="1400" dirty="0"/>
              <a:t>C -&gt; almost instantaneous elastic jump</a:t>
            </a:r>
          </a:p>
          <a:p>
            <a:r>
              <a:rPr lang="en-US" sz="1400" dirty="0"/>
              <a:t>B -&gt; rapid redistribution among attached states</a:t>
            </a:r>
          </a:p>
          <a:p>
            <a:r>
              <a:rPr lang="en-US" sz="1400" dirty="0"/>
              <a:t>A -&gt; structural adjustments</a:t>
            </a:r>
          </a:p>
        </p:txBody>
      </p:sp>
    </p:spTree>
    <p:extLst>
      <p:ext uri="{BB962C8B-B14F-4D97-AF65-F5344CB8AC3E}">
        <p14:creationId xmlns:p14="http://schemas.microsoft.com/office/powerpoint/2010/main" val="368050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8EC49-07D0-66EF-C0E9-6B8893DD4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959365"/>
            <a:ext cx="7772400" cy="49392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3BC74C-1A0B-078C-7EAD-EF466FD9A1B6}"/>
              </a:ext>
            </a:extLst>
          </p:cNvPr>
          <p:cNvSpPr txBox="1"/>
          <p:nvPr/>
        </p:nvSpPr>
        <p:spPr>
          <a:xfrm>
            <a:off x="495300" y="622300"/>
            <a:ext cx="29591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strain v time of all the fibers compared</a:t>
            </a:r>
          </a:p>
          <a:p>
            <a:endParaRPr lang="en-US" dirty="0"/>
          </a:p>
          <a:p>
            <a:r>
              <a:rPr lang="en-US" dirty="0"/>
              <a:t>The change in stress v time of all the fibers</a:t>
            </a:r>
          </a:p>
          <a:p>
            <a:endParaRPr lang="en-US" dirty="0"/>
          </a:p>
          <a:p>
            <a:r>
              <a:rPr lang="en-US" dirty="0" err="1"/>
              <a:t>Kf,rel</a:t>
            </a:r>
            <a:r>
              <a:rPr lang="en-US" dirty="0"/>
              <a:t> is the detachment rate  v the amount of </a:t>
            </a:r>
            <a:r>
              <a:rPr lang="en-US" dirty="0" err="1"/>
              <a:t>MgATP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MgATP</a:t>
            </a:r>
            <a:r>
              <a:rPr lang="en-US" dirty="0"/>
              <a:t> causes rigor</a:t>
            </a:r>
          </a:p>
          <a:p>
            <a:endParaRPr lang="en-US" dirty="0"/>
          </a:p>
          <a:p>
            <a:r>
              <a:rPr lang="en-US" dirty="0"/>
              <a:t>2pic rate constant of how quickly force decays compared to the amount of </a:t>
            </a:r>
            <a:r>
              <a:rPr lang="en-US" dirty="0" err="1"/>
              <a:t>MgATP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2pic is based on the step fit from the step done at rigor</a:t>
            </a:r>
          </a:p>
        </p:txBody>
      </p:sp>
    </p:spTree>
    <p:extLst>
      <p:ext uri="{BB962C8B-B14F-4D97-AF65-F5344CB8AC3E}">
        <p14:creationId xmlns:p14="http://schemas.microsoft.com/office/powerpoint/2010/main" val="429190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347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Cardiac Step Analysis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Tanner, Bertrand</dc:creator>
  <cp:lastModifiedBy>Tanner, Bertrand</cp:lastModifiedBy>
  <cp:revision>10</cp:revision>
  <dcterms:created xsi:type="dcterms:W3CDTF">2026-07-30T15:00:39Z</dcterms:created>
  <dcterms:modified xsi:type="dcterms:W3CDTF">2026-07-30T15:32:55Z</dcterms:modified>
</cp:coreProperties>
</file>