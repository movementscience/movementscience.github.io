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8" r:id="rId4"/>
    <p:sldId id="267" r:id="rId5"/>
    <p:sldId id="270" r:id="rId6"/>
    <p:sldId id="271" r:id="rId7"/>
    <p:sldId id="269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3EC5-465A-7E7D-5971-F7069EB20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20D99-9185-6BA6-3CD5-E978C16BA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A4C2-23C1-B28C-B119-53FC5FD9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83C8F-DAB1-6880-6C1B-492D48C3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0E2BE-2017-890C-B1C1-AA054593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2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F183-47DD-5FF6-425D-9CB1EC0B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C2A34-5CA7-5B6E-9945-898364605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C218-7128-C46F-23B5-093EFDFA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1DED-E6C8-7131-3DF3-68AA8A58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260C-08C4-D9DB-DC9E-B80B4F00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9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2CFD-51A5-9043-1F4E-07756CD1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E183-BF37-CE77-C949-DCBE1C911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97E6-4875-9064-9DB1-A7B13BBC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A3AD7-28C7-863E-CBEA-32A72B43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0CC30-1B80-BE0A-8782-73803D94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1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B4D3-630C-3A72-4427-F924B3A9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3EBB-6C9D-D552-29A7-92D836645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0F197-26E3-BC04-EFB0-FD1BBC3AD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CD162-9593-6DB9-60EA-FC489B9B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D480B-C414-5537-8C71-F6E74864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D2FF3-0C59-91DD-D943-A07D3DF2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1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D943-2B23-E6BD-C3F8-41CB2FE5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02EB9-02BA-97FB-9B16-1494645D7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1FD08-7DFE-3FBA-BE18-0A77F9D94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BDF51-7B3F-B6F5-E1CE-11E1FC150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E58C4-77E9-BC38-DF09-9CCD3F605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8855B-AFDB-9547-13B3-DE336E78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7EB4D-AEE4-7657-2410-E08B1720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27D92-C865-CA33-8314-45C902DA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C436-50DE-00D7-7F76-23BAD85B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90856-B264-4708-1572-DE5592C3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F8B9D-C662-7C3F-F4D7-8AD1BD4D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ED0CD-53D9-B4F1-9E52-19708D99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0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D35BF-76FF-B853-438F-FD035C50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476A4-6494-15EC-C25B-68C6C7EF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CB5CC-8422-D167-9A70-73306222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4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72E1-DC4D-76ED-AE2A-8DF74709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E903C-D837-2A47-D222-C6887717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A9B01-BDE0-E54C-764C-49638CEA1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54F68-FD70-F131-1352-2A05581F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EA715-3694-6A49-32E7-78D4F4CE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3EAE8-902A-3207-A78B-D48B921F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1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4724-F997-5A15-B215-A8903E16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94716-6722-D07B-B07D-132E84872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D910C-1681-594B-B621-BFA55BF78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216D4-B5C8-3100-9CFE-CB66847D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0D3F3-4417-205A-0BF7-09AB6429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5F0F8-1C26-1994-2CA5-0A09A3F3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8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D581-379D-62C4-7454-291BA1FA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DEC57-6124-92DE-47F1-5EB0FDD40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2E37D-EC8C-CB00-224F-97D7221C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0E2A-CDA1-54DD-52A7-92C77B9A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A2435-3A83-F448-64AC-9ECE27F8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1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A28AF-80AB-605B-EA4B-353CEC65C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89420-3D84-9DCA-5D2D-8241389C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45A64-316F-52C6-52CA-62CF27C0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A480-BDE8-59CF-CD99-3B6A2014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1559-B5D4-21AE-FBE8-146C261C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23FF8-5E1A-520B-1B9B-25BCFA97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A2DD-08D9-8B15-2A52-2907015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8C221-7466-24D9-3063-2EEF00CC8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55B0-77CA-127B-5CA0-73C12AF4D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06316-2132-15FB-C58D-1851DD8A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9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A3EB-AF76-C2F5-A1F5-7F3F21C0E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9519-4098-7B1D-37E0-404561ECD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Skeletal Step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D8F69-C1B2-3FCE-ED88-E98D1EE6E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9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7DE0E7-B0CA-8F7C-E581-BBAB7A837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8" y="546893"/>
            <a:ext cx="5287113" cy="4467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E9B6C6-12E7-6B90-307D-17622CE243B3}"/>
              </a:ext>
            </a:extLst>
          </p:cNvPr>
          <p:cNvSpPr txBox="1"/>
          <p:nvPr/>
        </p:nvSpPr>
        <p:spPr>
          <a:xfrm>
            <a:off x="6504972" y="1412111"/>
            <a:ext cx="46964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1a—</a:t>
            </a:r>
          </a:p>
          <a:p>
            <a:r>
              <a:rPr lang="en-US" dirty="0"/>
              <a:t>For Soleus Fitting (low twitch muscle), load or open the script:</a:t>
            </a:r>
          </a:p>
          <a:p>
            <a:endParaRPr lang="en-US" dirty="0"/>
          </a:p>
          <a:p>
            <a:r>
              <a:rPr lang="en-US" dirty="0"/>
              <a:t>ProcessStep_Soleus_2026_07_29.m</a:t>
            </a:r>
          </a:p>
          <a:p>
            <a:endParaRPr lang="en-US" dirty="0"/>
          </a:p>
          <a:p>
            <a:r>
              <a:rPr lang="en-US" b="1" dirty="0"/>
              <a:t>1b—</a:t>
            </a:r>
          </a:p>
          <a:p>
            <a:r>
              <a:rPr lang="en-US" dirty="0"/>
              <a:t>For Medial Gastrocnemius (fast twitch muscle) fitting, load or open the script:</a:t>
            </a:r>
          </a:p>
          <a:p>
            <a:endParaRPr lang="en-US" dirty="0"/>
          </a:p>
          <a:p>
            <a:r>
              <a:rPr lang="en-US" dirty="0"/>
              <a:t>ProcessStep_Soleus_2026_07_29.m</a:t>
            </a:r>
          </a:p>
          <a:p>
            <a:endParaRPr lang="en-US" dirty="0"/>
          </a:p>
          <a:p>
            <a:r>
              <a:rPr lang="en-US" b="1" dirty="0"/>
              <a:t>2—</a:t>
            </a:r>
          </a:p>
          <a:p>
            <a:r>
              <a:rPr lang="en-US" dirty="0"/>
              <a:t>Then just run the script and it should make some plots for data fitting.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0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EE096-2E89-6CF0-13B6-9683B8CA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1D59C8-C021-DC86-19DC-6667C00BF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8" y="546893"/>
            <a:ext cx="5287113" cy="4467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F485E8-F960-6717-2CC0-203921B96F6B}"/>
              </a:ext>
            </a:extLst>
          </p:cNvPr>
          <p:cNvSpPr txBox="1"/>
          <p:nvPr/>
        </p:nvSpPr>
        <p:spPr>
          <a:xfrm>
            <a:off x="6504972" y="1412111"/>
            <a:ext cx="46964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3—</a:t>
            </a:r>
          </a:p>
          <a:p>
            <a:r>
              <a:rPr lang="en-US" dirty="0"/>
              <a:t>The scripts will import some data from the Excel file(s).</a:t>
            </a:r>
          </a:p>
          <a:p>
            <a:endParaRPr lang="en-US" dirty="0"/>
          </a:p>
          <a:p>
            <a:r>
              <a:rPr lang="en-US" dirty="0"/>
              <a:t>This data in the Excel files has some information for file import (i.e. loading the raw data traces) and the types of data to analyze.</a:t>
            </a:r>
          </a:p>
          <a:p>
            <a:endParaRPr lang="en-US" dirty="0"/>
          </a:p>
          <a:p>
            <a:r>
              <a:rPr lang="en-US" b="1" dirty="0"/>
              <a:t>4—</a:t>
            </a:r>
          </a:p>
          <a:p>
            <a:r>
              <a:rPr lang="en-US" dirty="0"/>
              <a:t>The raw data are either in the folder(s)</a:t>
            </a:r>
          </a:p>
          <a:p>
            <a:endParaRPr lang="en-US" dirty="0"/>
          </a:p>
          <a:p>
            <a:r>
              <a:rPr lang="en-US" dirty="0" err="1"/>
              <a:t>MedialGastroc_Data</a:t>
            </a:r>
            <a:r>
              <a:rPr lang="en-US" dirty="0"/>
              <a:t>	 or</a:t>
            </a:r>
          </a:p>
          <a:p>
            <a:r>
              <a:rPr lang="en-US" dirty="0" err="1"/>
              <a:t>Soleus_Data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5—</a:t>
            </a:r>
          </a:p>
          <a:p>
            <a:r>
              <a:rPr lang="en-US" dirty="0"/>
              <a:t>The folder named Code has some function files to perform the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042037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DDBB6-9E27-5577-FD22-0AB285EB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F53514-A326-0D4E-DF90-F8651C9BB37E}"/>
              </a:ext>
            </a:extLst>
          </p:cNvPr>
          <p:cNvSpPr txBox="1"/>
          <p:nvPr/>
        </p:nvSpPr>
        <p:spPr>
          <a:xfrm>
            <a:off x="195612" y="177671"/>
            <a:ext cx="33693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Solus Data Fitting:</a:t>
            </a:r>
          </a:p>
          <a:p>
            <a:endParaRPr lang="en-US" b="1" dirty="0"/>
          </a:p>
          <a:p>
            <a:r>
              <a:rPr lang="en-US" b="1" dirty="0"/>
              <a:t>Figure 2—</a:t>
            </a:r>
          </a:p>
          <a:p>
            <a:endParaRPr lang="en-US" b="1" dirty="0"/>
          </a:p>
          <a:p>
            <a:r>
              <a:rPr lang="en-US" b="1" dirty="0"/>
              <a:t>Step-length vs. time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</a:t>
            </a:r>
          </a:p>
          <a:p>
            <a:r>
              <a:rPr lang="en-US" b="1" dirty="0"/>
              <a:t>(force/cross-sectional area)</a:t>
            </a:r>
          </a:p>
          <a:p>
            <a:r>
              <a:rPr lang="en-US" b="1" dirty="0"/>
              <a:t>vs. time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Normalized Stress and Strain</a:t>
            </a:r>
          </a:p>
          <a:p>
            <a:r>
              <a:rPr lang="en-US" b="1" dirty="0"/>
              <a:t>vs. time (left)</a:t>
            </a:r>
          </a:p>
          <a:p>
            <a:endParaRPr lang="en-US" b="1" dirty="0"/>
          </a:p>
          <a:p>
            <a:r>
              <a:rPr lang="en-US" b="1" dirty="0"/>
              <a:t>Modulus (i.e. Stress/Strain)</a:t>
            </a:r>
          </a:p>
          <a:p>
            <a:r>
              <a:rPr lang="en-US" b="1" dirty="0"/>
              <a:t>vs. time (right)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C3869-2A3A-5746-3906-113C191E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600" y="358815"/>
            <a:ext cx="6900137" cy="58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2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2BBD-B85E-92E5-DF20-6FFFE483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E95E4B-5C70-5B6F-2A4C-DA92FE9202FC}"/>
              </a:ext>
            </a:extLst>
          </p:cNvPr>
          <p:cNvSpPr txBox="1"/>
          <p:nvPr/>
        </p:nvSpPr>
        <p:spPr>
          <a:xfrm>
            <a:off x="195612" y="177671"/>
            <a:ext cx="33693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Solus Data Fitting:</a:t>
            </a:r>
          </a:p>
          <a:p>
            <a:endParaRPr lang="en-US" b="1" dirty="0"/>
          </a:p>
          <a:p>
            <a:r>
              <a:rPr lang="en-US" b="1" dirty="0"/>
              <a:t>Figure 3—</a:t>
            </a:r>
          </a:p>
          <a:p>
            <a:endParaRPr lang="en-US" b="1" dirty="0"/>
          </a:p>
          <a:p>
            <a:r>
              <a:rPr lang="en-US" b="1" dirty="0"/>
              <a:t>Step-stress vs. time with the specific time points of each phase (top left)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 vs. time, with fit to a dual exponential function, with offset term (top right).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 vs. time, with fit to the time-based ABC process model (Palmer et al. 2007 Biophysical Journal)</a:t>
            </a:r>
          </a:p>
          <a:p>
            <a:r>
              <a:rPr lang="en-US" b="1" dirty="0"/>
              <a:t>(bottom right).</a:t>
            </a:r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CB2EEE-5BC4-5BD7-B839-20D02833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347" y="497711"/>
            <a:ext cx="7281400" cy="586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3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ED61-60F9-9A9A-3454-C84BC67C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1DB96E-EC42-5F90-69BC-A1072ABBD02E}"/>
              </a:ext>
            </a:extLst>
          </p:cNvPr>
          <p:cNvSpPr txBox="1"/>
          <p:nvPr/>
        </p:nvSpPr>
        <p:spPr>
          <a:xfrm>
            <a:off x="195612" y="177671"/>
            <a:ext cx="33693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Solus Data Fitting:</a:t>
            </a:r>
          </a:p>
          <a:p>
            <a:endParaRPr lang="en-US" b="1" dirty="0"/>
          </a:p>
          <a:p>
            <a:r>
              <a:rPr lang="en-US" b="1" dirty="0"/>
              <a:t>Figure 4—</a:t>
            </a:r>
          </a:p>
          <a:p>
            <a:endParaRPr lang="en-US" b="1" dirty="0"/>
          </a:p>
          <a:p>
            <a:r>
              <a:rPr lang="en-US" b="1" dirty="0"/>
              <a:t>Summary plots for all traces analyzed under each condition</a:t>
            </a:r>
          </a:p>
          <a:p>
            <a:endParaRPr lang="en-US" b="1" dirty="0"/>
          </a:p>
          <a:p>
            <a:r>
              <a:rPr lang="en-US" b="1" dirty="0"/>
              <a:t>Top = sarcomere length of 2.4 microns</a:t>
            </a:r>
          </a:p>
          <a:p>
            <a:endParaRPr lang="en-US" b="1" dirty="0"/>
          </a:p>
          <a:p>
            <a:r>
              <a:rPr lang="en-US" b="1" dirty="0"/>
              <a:t>Bottom = sarcomere length of 2.7 microns</a:t>
            </a:r>
          </a:p>
          <a:p>
            <a:endParaRPr lang="en-US" b="1" dirty="0"/>
          </a:p>
          <a:p>
            <a:r>
              <a:rPr lang="en-US" b="1" dirty="0"/>
              <a:t>The plots on the right are normalized to the peak stress following the step stretch.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1AFE2-BBBC-E4E8-7590-01C75F156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410" y="659757"/>
            <a:ext cx="7947163" cy="52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27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BBA8-B0A7-58F7-B73B-746440DA5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9C7EDD-9722-B4B6-9636-C6A46CDC2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0250"/>
            <a:ext cx="4965700" cy="5397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EA418-6306-0079-62AA-9C690CCDDA59}"/>
              </a:ext>
            </a:extLst>
          </p:cNvPr>
          <p:cNvSpPr txBox="1"/>
          <p:nvPr/>
        </p:nvSpPr>
        <p:spPr>
          <a:xfrm>
            <a:off x="195612" y="177671"/>
            <a:ext cx="33693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MG Data Fitting:</a:t>
            </a:r>
          </a:p>
          <a:p>
            <a:endParaRPr lang="en-US" b="1" dirty="0"/>
          </a:p>
          <a:p>
            <a:r>
              <a:rPr lang="en-US" b="1" dirty="0"/>
              <a:t>Figure 1—</a:t>
            </a:r>
          </a:p>
          <a:p>
            <a:endParaRPr lang="en-US" b="1" dirty="0"/>
          </a:p>
          <a:p>
            <a:r>
              <a:rPr lang="en-US" b="1" dirty="0"/>
              <a:t>Step-length vs. time for total data set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Step-force</a:t>
            </a:r>
          </a:p>
          <a:p>
            <a:r>
              <a:rPr lang="en-US" b="1" dirty="0"/>
              <a:t>vs. time for total data set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</a:t>
            </a:r>
          </a:p>
          <a:p>
            <a:r>
              <a:rPr lang="en-US" b="1" dirty="0"/>
              <a:t>(force/cross-sectional area)</a:t>
            </a:r>
          </a:p>
          <a:p>
            <a:r>
              <a:rPr lang="en-US" b="1" dirty="0"/>
              <a:t>vs. time for total data set</a:t>
            </a:r>
          </a:p>
        </p:txBody>
      </p:sp>
    </p:spTree>
    <p:extLst>
      <p:ext uri="{BB962C8B-B14F-4D97-AF65-F5344CB8AC3E}">
        <p14:creationId xmlns:p14="http://schemas.microsoft.com/office/powerpoint/2010/main" val="168742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D8E081-1B92-2764-5E82-BD735046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84" y="0"/>
            <a:ext cx="765687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7FFF5F-E8CC-D598-EFC9-18A83E01A30D}"/>
              </a:ext>
            </a:extLst>
          </p:cNvPr>
          <p:cNvSpPr txBox="1"/>
          <p:nvPr/>
        </p:nvSpPr>
        <p:spPr>
          <a:xfrm>
            <a:off x="195612" y="177671"/>
            <a:ext cx="336939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MG Data Fitting:</a:t>
            </a:r>
          </a:p>
          <a:p>
            <a:endParaRPr lang="en-US" b="1" dirty="0"/>
          </a:p>
          <a:p>
            <a:r>
              <a:rPr lang="en-US" b="1" dirty="0"/>
              <a:t>Figure 2—</a:t>
            </a:r>
          </a:p>
          <a:p>
            <a:endParaRPr lang="en-US" b="1" dirty="0"/>
          </a:p>
          <a:p>
            <a:r>
              <a:rPr lang="en-US" b="1" dirty="0"/>
              <a:t>Step-length vs. time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</a:t>
            </a:r>
          </a:p>
          <a:p>
            <a:r>
              <a:rPr lang="en-US" b="1" dirty="0"/>
              <a:t>(force/cross-sectional area)</a:t>
            </a:r>
          </a:p>
          <a:p>
            <a:r>
              <a:rPr lang="en-US" b="1" dirty="0"/>
              <a:t>vs. time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Normalized Stress and Strain</a:t>
            </a:r>
          </a:p>
          <a:p>
            <a:r>
              <a:rPr lang="en-US" b="1" dirty="0"/>
              <a:t>vs. time (left)</a:t>
            </a:r>
          </a:p>
          <a:p>
            <a:endParaRPr lang="en-US" b="1" dirty="0"/>
          </a:p>
          <a:p>
            <a:r>
              <a:rPr lang="en-US" b="1" dirty="0"/>
              <a:t>Modulus (i.e. Stress/Strain)</a:t>
            </a:r>
          </a:p>
          <a:p>
            <a:r>
              <a:rPr lang="en-US" b="1" dirty="0"/>
              <a:t>vs. time (right)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48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B905D5-E69F-0EB9-1F24-B92D2E3E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415450"/>
            <a:ext cx="7772400" cy="6027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4E24D5-50A7-C2BB-47FC-100989978376}"/>
              </a:ext>
            </a:extLst>
          </p:cNvPr>
          <p:cNvSpPr txBox="1"/>
          <p:nvPr/>
        </p:nvSpPr>
        <p:spPr>
          <a:xfrm>
            <a:off x="195612" y="177671"/>
            <a:ext cx="33693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Solus Data Fitting:</a:t>
            </a:r>
          </a:p>
          <a:p>
            <a:endParaRPr lang="en-US" b="1" dirty="0"/>
          </a:p>
          <a:p>
            <a:r>
              <a:rPr lang="en-US" b="1" dirty="0"/>
              <a:t>Figure 3—</a:t>
            </a:r>
          </a:p>
          <a:p>
            <a:endParaRPr lang="en-US" b="1" dirty="0"/>
          </a:p>
          <a:p>
            <a:r>
              <a:rPr lang="en-US" b="1" dirty="0"/>
              <a:t>Step-stress vs. time with the specific time points of each phase. Also some ‘piecewise’ exponential fits, since the whole fitting to the 3 processes was being difficult</a:t>
            </a:r>
          </a:p>
          <a:p>
            <a:r>
              <a:rPr lang="en-US" b="1" dirty="0"/>
              <a:t>(top left)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 vs. time, with fit to a dual exponential function, with offset term (top right).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Step-stress vs. time, with fit to the time-based phases on specific data points </a:t>
            </a:r>
          </a:p>
          <a:p>
            <a:r>
              <a:rPr lang="en-US" b="1" dirty="0"/>
              <a:t>(bottom left).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733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98373F-A84D-6E5E-13C2-C8C018B4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143000"/>
            <a:ext cx="61722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13BB5D-08BE-8B95-D812-F430FDC835CE}"/>
              </a:ext>
            </a:extLst>
          </p:cNvPr>
          <p:cNvSpPr txBox="1"/>
          <p:nvPr/>
        </p:nvSpPr>
        <p:spPr>
          <a:xfrm>
            <a:off x="460788" y="580007"/>
            <a:ext cx="33693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MG Data Fitting:</a:t>
            </a:r>
          </a:p>
          <a:p>
            <a:endParaRPr lang="en-US" b="1" dirty="0"/>
          </a:p>
          <a:p>
            <a:r>
              <a:rPr lang="en-US" b="1" dirty="0"/>
              <a:t>Figure 4—</a:t>
            </a:r>
          </a:p>
          <a:p>
            <a:endParaRPr lang="en-US" b="1" dirty="0"/>
          </a:p>
          <a:p>
            <a:r>
              <a:rPr lang="en-US" b="1" dirty="0"/>
              <a:t>Summary plots for all traces analyzed under each condition</a:t>
            </a:r>
          </a:p>
          <a:p>
            <a:endParaRPr lang="en-US" b="1" dirty="0"/>
          </a:p>
          <a:p>
            <a:r>
              <a:rPr lang="en-US" b="1" dirty="0"/>
              <a:t>Top = sarcomere length of 2.4 microns</a:t>
            </a:r>
          </a:p>
          <a:p>
            <a:endParaRPr lang="en-US" b="1" dirty="0"/>
          </a:p>
          <a:p>
            <a:r>
              <a:rPr lang="en-US" b="1" dirty="0"/>
              <a:t>Bottom = sarcomere length of 2.7 microns</a:t>
            </a:r>
          </a:p>
          <a:p>
            <a:endParaRPr lang="en-US" b="1" dirty="0"/>
          </a:p>
          <a:p>
            <a:r>
              <a:rPr lang="en-US" b="1" dirty="0"/>
              <a:t>The plots on the right are normalized to the peak stress following the step stretch.</a:t>
            </a:r>
          </a:p>
        </p:txBody>
      </p:sp>
    </p:spTree>
    <p:extLst>
      <p:ext uri="{BB962C8B-B14F-4D97-AF65-F5344CB8AC3E}">
        <p14:creationId xmlns:p14="http://schemas.microsoft.com/office/powerpoint/2010/main" val="240896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525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Skeletal Step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Tanner, Bertrand</dc:creator>
  <cp:lastModifiedBy>Tanner, Bertrand</cp:lastModifiedBy>
  <cp:revision>7</cp:revision>
  <dcterms:created xsi:type="dcterms:W3CDTF">2026-07-30T15:00:39Z</dcterms:created>
  <dcterms:modified xsi:type="dcterms:W3CDTF">2026-07-30T15:23:33Z</dcterms:modified>
</cp:coreProperties>
</file>